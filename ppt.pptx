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laypen Sans" charset="1" panose="00000000000000000000"/>
      <p:regular r:id="rId12"/>
    </p:embeddedFont>
    <p:embeddedFont>
      <p:font typeface="Canva Sans Bold" charset="1" panose="020B0803030501040103"/>
      <p:regular r:id="rId13"/>
    </p:embeddedFont>
    <p:embeddedFont>
      <p:font typeface="Anton" charset="1" panose="00000500000000000000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6715" y="-5006479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99247" y="-408768"/>
            <a:ext cx="3760170" cy="2359507"/>
          </a:xfrm>
          <a:custGeom>
            <a:avLst/>
            <a:gdLst/>
            <a:ahLst/>
            <a:cxnLst/>
            <a:rect r="r" b="b" t="t" l="l"/>
            <a:pathLst>
              <a:path h="2359507" w="3760170">
                <a:moveTo>
                  <a:pt x="0" y="0"/>
                </a:moveTo>
                <a:lnTo>
                  <a:pt x="3760170" y="0"/>
                </a:lnTo>
                <a:lnTo>
                  <a:pt x="3760170" y="2359507"/>
                </a:lnTo>
                <a:lnTo>
                  <a:pt x="0" y="23595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03553">
            <a:off x="-207082" y="5520779"/>
            <a:ext cx="3355341" cy="4989355"/>
          </a:xfrm>
          <a:custGeom>
            <a:avLst/>
            <a:gdLst/>
            <a:ahLst/>
            <a:cxnLst/>
            <a:rect r="r" b="b" t="t" l="l"/>
            <a:pathLst>
              <a:path h="4989355" w="3355341">
                <a:moveTo>
                  <a:pt x="0" y="0"/>
                </a:moveTo>
                <a:lnTo>
                  <a:pt x="3355341" y="0"/>
                </a:lnTo>
                <a:lnTo>
                  <a:pt x="3355341" y="4989355"/>
                </a:lnTo>
                <a:lnTo>
                  <a:pt x="0" y="49893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4341">
            <a:off x="-2386419" y="1108512"/>
            <a:ext cx="5316656" cy="3734951"/>
          </a:xfrm>
          <a:custGeom>
            <a:avLst/>
            <a:gdLst/>
            <a:ahLst/>
            <a:cxnLst/>
            <a:rect r="r" b="b" t="t" l="l"/>
            <a:pathLst>
              <a:path h="3734951" w="5316656">
                <a:moveTo>
                  <a:pt x="0" y="0"/>
                </a:moveTo>
                <a:lnTo>
                  <a:pt x="5316656" y="0"/>
                </a:lnTo>
                <a:lnTo>
                  <a:pt x="5316656" y="3734951"/>
                </a:lnTo>
                <a:lnTo>
                  <a:pt x="0" y="37349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9417" y="6281194"/>
            <a:ext cx="3614741" cy="3461115"/>
          </a:xfrm>
          <a:custGeom>
            <a:avLst/>
            <a:gdLst/>
            <a:ahLst/>
            <a:cxnLst/>
            <a:rect r="r" b="b" t="t" l="l"/>
            <a:pathLst>
              <a:path h="3461115" w="3614741">
                <a:moveTo>
                  <a:pt x="0" y="0"/>
                </a:moveTo>
                <a:lnTo>
                  <a:pt x="3614741" y="0"/>
                </a:lnTo>
                <a:lnTo>
                  <a:pt x="3614741" y="3461115"/>
                </a:lnTo>
                <a:lnTo>
                  <a:pt x="0" y="34611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37022">
            <a:off x="6659792" y="9161557"/>
            <a:ext cx="4968416" cy="3005891"/>
          </a:xfrm>
          <a:custGeom>
            <a:avLst/>
            <a:gdLst/>
            <a:ahLst/>
            <a:cxnLst/>
            <a:rect r="r" b="b" t="t" l="l"/>
            <a:pathLst>
              <a:path h="3005891" w="4968416">
                <a:moveTo>
                  <a:pt x="0" y="0"/>
                </a:moveTo>
                <a:lnTo>
                  <a:pt x="4968416" y="0"/>
                </a:lnTo>
                <a:lnTo>
                  <a:pt x="4968416" y="3005891"/>
                </a:lnTo>
                <a:lnTo>
                  <a:pt x="0" y="30058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95233" y="-688803"/>
            <a:ext cx="4415240" cy="2919578"/>
          </a:xfrm>
          <a:custGeom>
            <a:avLst/>
            <a:gdLst/>
            <a:ahLst/>
            <a:cxnLst/>
            <a:rect r="r" b="b" t="t" l="l"/>
            <a:pathLst>
              <a:path h="2919578" w="4415240">
                <a:moveTo>
                  <a:pt x="0" y="0"/>
                </a:moveTo>
                <a:lnTo>
                  <a:pt x="4415240" y="0"/>
                </a:lnTo>
                <a:lnTo>
                  <a:pt x="4415240" y="2919577"/>
                </a:lnTo>
                <a:lnTo>
                  <a:pt x="0" y="29195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524722">
            <a:off x="15094373" y="1633666"/>
            <a:ext cx="3720773" cy="3627753"/>
          </a:xfrm>
          <a:custGeom>
            <a:avLst/>
            <a:gdLst/>
            <a:ahLst/>
            <a:cxnLst/>
            <a:rect r="r" b="b" t="t" l="l"/>
            <a:pathLst>
              <a:path h="3627753" w="3720773">
                <a:moveTo>
                  <a:pt x="0" y="0"/>
                </a:moveTo>
                <a:lnTo>
                  <a:pt x="3720773" y="0"/>
                </a:lnTo>
                <a:lnTo>
                  <a:pt x="3720773" y="3627753"/>
                </a:lnTo>
                <a:lnTo>
                  <a:pt x="0" y="362775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109273" y="6475586"/>
            <a:ext cx="7868478" cy="1227423"/>
            <a:chOff x="0" y="0"/>
            <a:chExt cx="2163324" cy="3374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63324" cy="337462"/>
            </a:xfrm>
            <a:custGeom>
              <a:avLst/>
              <a:gdLst/>
              <a:ahLst/>
              <a:cxnLst/>
              <a:rect r="r" b="b" t="t" l="l"/>
              <a:pathLst>
                <a:path h="337462" w="2163324">
                  <a:moveTo>
                    <a:pt x="98392" y="0"/>
                  </a:moveTo>
                  <a:lnTo>
                    <a:pt x="2064932" y="0"/>
                  </a:lnTo>
                  <a:cubicBezTo>
                    <a:pt x="2119273" y="0"/>
                    <a:pt x="2163324" y="44051"/>
                    <a:pt x="2163324" y="98392"/>
                  </a:cubicBezTo>
                  <a:lnTo>
                    <a:pt x="2163324" y="239071"/>
                  </a:lnTo>
                  <a:cubicBezTo>
                    <a:pt x="2163324" y="265166"/>
                    <a:pt x="2152958" y="290192"/>
                    <a:pt x="2134506" y="308644"/>
                  </a:cubicBezTo>
                  <a:cubicBezTo>
                    <a:pt x="2116054" y="327096"/>
                    <a:pt x="2091027" y="337462"/>
                    <a:pt x="2064932" y="337462"/>
                  </a:cubicBezTo>
                  <a:lnTo>
                    <a:pt x="98392" y="337462"/>
                  </a:lnTo>
                  <a:cubicBezTo>
                    <a:pt x="44051" y="337462"/>
                    <a:pt x="0" y="293411"/>
                    <a:pt x="0" y="239071"/>
                  </a:cubicBezTo>
                  <a:lnTo>
                    <a:pt x="0" y="98392"/>
                  </a:lnTo>
                  <a:cubicBezTo>
                    <a:pt x="0" y="44051"/>
                    <a:pt x="44051" y="0"/>
                    <a:pt x="9839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63324" cy="375562"/>
            </a:xfrm>
            <a:prstGeom prst="rect">
              <a:avLst/>
            </a:prstGeom>
          </p:spPr>
          <p:txBody>
            <a:bodyPr anchor="ctr" rtlCol="false" tIns="48664" lIns="48664" bIns="48664" rIns="4866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236147" y="6707224"/>
            <a:ext cx="7614729" cy="9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2"/>
              </a:lnSpc>
            </a:pPr>
            <a:r>
              <a:rPr lang="en-US" sz="2235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Te</a:t>
            </a:r>
            <a:r>
              <a:rPr lang="en-US" sz="2235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chMentorX</a:t>
            </a:r>
          </a:p>
          <a:p>
            <a:pPr algn="ctr">
              <a:lnSpc>
                <a:spcPts val="2682"/>
              </a:lnSpc>
            </a:pPr>
            <a:r>
              <a:rPr lang="en-US" sz="2235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Priyadarshini College of Engineering.</a:t>
            </a:r>
          </a:p>
          <a:p>
            <a:pPr algn="ctr">
              <a:lnSpc>
                <a:spcPts val="268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006846" y="5566265"/>
            <a:ext cx="8073330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Team:- TechRock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25790" y="2517682"/>
            <a:ext cx="11635443" cy="281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26"/>
              </a:lnSpc>
              <a:spcBef>
                <a:spcPct val="0"/>
              </a:spcBef>
            </a:pPr>
            <a:r>
              <a:rPr lang="en-US" sz="9272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LLM-Bas</a:t>
            </a:r>
            <a:r>
              <a:rPr lang="en-US" sz="9272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ed Student Monitoring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16497" y="-4854079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4" y="0"/>
                </a:lnTo>
                <a:lnTo>
                  <a:pt x="20120994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66339" y="2846657"/>
            <a:ext cx="9278074" cy="854606"/>
            <a:chOff x="0" y="0"/>
            <a:chExt cx="2163324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3324" cy="199264"/>
            </a:xfrm>
            <a:custGeom>
              <a:avLst/>
              <a:gdLst/>
              <a:ahLst/>
              <a:cxnLst/>
              <a:rect r="r" b="b" t="t" l="l"/>
              <a:pathLst>
                <a:path h="199264" w="2163324">
                  <a:moveTo>
                    <a:pt x="83443" y="0"/>
                  </a:moveTo>
                  <a:lnTo>
                    <a:pt x="2079881" y="0"/>
                  </a:lnTo>
                  <a:cubicBezTo>
                    <a:pt x="2125965" y="0"/>
                    <a:pt x="2163324" y="37359"/>
                    <a:pt x="2163324" y="83443"/>
                  </a:cubicBezTo>
                  <a:lnTo>
                    <a:pt x="2163324" y="115821"/>
                  </a:lnTo>
                  <a:cubicBezTo>
                    <a:pt x="2163324" y="161906"/>
                    <a:pt x="2125965" y="199264"/>
                    <a:pt x="2079881" y="199264"/>
                  </a:cubicBezTo>
                  <a:lnTo>
                    <a:pt x="83443" y="199264"/>
                  </a:lnTo>
                  <a:cubicBezTo>
                    <a:pt x="37359" y="199264"/>
                    <a:pt x="0" y="161906"/>
                    <a:pt x="0" y="115821"/>
                  </a:cubicBezTo>
                  <a:lnTo>
                    <a:pt x="0" y="83443"/>
                  </a:lnTo>
                  <a:cubicBezTo>
                    <a:pt x="0" y="37359"/>
                    <a:pt x="37359" y="0"/>
                    <a:pt x="83443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63324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64634" y="2068622"/>
            <a:ext cx="8788670" cy="1205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15"/>
              </a:lnSpc>
              <a:spcBef>
                <a:spcPct val="0"/>
              </a:spcBef>
            </a:pPr>
            <a:r>
              <a:rPr lang="en-US" sz="7929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259035" y="406958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0"/>
                </a:moveTo>
                <a:lnTo>
                  <a:pt x="1894269" y="0"/>
                </a:lnTo>
                <a:lnTo>
                  <a:pt x="1894269" y="1337827"/>
                </a:lnTo>
                <a:lnTo>
                  <a:pt x="0" y="13378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72611">
            <a:off x="305451" y="4455840"/>
            <a:ext cx="6424837" cy="3252573"/>
          </a:xfrm>
          <a:custGeom>
            <a:avLst/>
            <a:gdLst/>
            <a:ahLst/>
            <a:cxnLst/>
            <a:rect r="r" b="b" t="t" l="l"/>
            <a:pathLst>
              <a:path h="3252573" w="6424837">
                <a:moveTo>
                  <a:pt x="0" y="0"/>
                </a:moveTo>
                <a:lnTo>
                  <a:pt x="6424836" y="0"/>
                </a:lnTo>
                <a:lnTo>
                  <a:pt x="6424836" y="3252574"/>
                </a:lnTo>
                <a:lnTo>
                  <a:pt x="0" y="3252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166339" y="4435092"/>
            <a:ext cx="10418981" cy="323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7"/>
              </a:lnSpc>
              <a:spcBef>
                <a:spcPct val="0"/>
              </a:spcBef>
            </a:pPr>
            <a:r>
              <a:rPr lang="en-US" b="true" sz="3062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Challenges:</a:t>
            </a:r>
          </a:p>
          <a:p>
            <a:pPr algn="l" marL="661141" indent="-330571" lvl="1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Teachers cannot monitor every student individually</a:t>
            </a:r>
          </a:p>
          <a:p>
            <a:pPr algn="l" marL="661141" indent="-330571" lvl="1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Student performance data is scattered</a:t>
            </a:r>
          </a:p>
          <a:p>
            <a:pPr algn="l" marL="661141" indent="-330571" lvl="1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Late identification of weak or stressed students</a:t>
            </a:r>
          </a:p>
          <a:p>
            <a:pPr algn="l" marL="661141" indent="-330571" lvl="1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Manual analysis is time-consuming</a:t>
            </a:r>
          </a:p>
          <a:p>
            <a:pPr algn="l" marL="661141" indent="-330571" lvl="1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Existing systems focus only on exams or placements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4779" y="7938711"/>
            <a:ext cx="13493221" cy="160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7"/>
              </a:lnSpc>
              <a:spcBef>
                <a:spcPct val="0"/>
              </a:spcBef>
            </a:pPr>
            <a:r>
              <a:rPr lang="en-US" b="true" sz="3062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Problem:</a:t>
            </a:r>
          </a:p>
          <a:p>
            <a:pPr algn="l">
              <a:lnSpc>
                <a:spcPts val="4287"/>
              </a:lnSpc>
              <a:spcBef>
                <a:spcPct val="0"/>
              </a:spcBef>
            </a:pPr>
            <a:r>
              <a:rPr lang="en-US" b="true" sz="3062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❝ There is no intelligent system to continuously monitor student academic and behavioral performance using AI ❞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7891" y="3010738"/>
            <a:ext cx="6069286" cy="854606"/>
            <a:chOff x="0" y="0"/>
            <a:chExt cx="1415146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5146" cy="199264"/>
            </a:xfrm>
            <a:custGeom>
              <a:avLst/>
              <a:gdLst/>
              <a:ahLst/>
              <a:cxnLst/>
              <a:rect r="r" b="b" t="t" l="l"/>
              <a:pathLst>
                <a:path h="199264" w="1415146">
                  <a:moveTo>
                    <a:pt x="99632" y="0"/>
                  </a:moveTo>
                  <a:lnTo>
                    <a:pt x="1315514" y="0"/>
                  </a:lnTo>
                  <a:cubicBezTo>
                    <a:pt x="1341938" y="0"/>
                    <a:pt x="1367280" y="10497"/>
                    <a:pt x="1385965" y="29182"/>
                  </a:cubicBezTo>
                  <a:cubicBezTo>
                    <a:pt x="1404649" y="47866"/>
                    <a:pt x="1415146" y="73208"/>
                    <a:pt x="1415146" y="99632"/>
                  </a:cubicBezTo>
                  <a:lnTo>
                    <a:pt x="1415146" y="99632"/>
                  </a:lnTo>
                  <a:cubicBezTo>
                    <a:pt x="1415146" y="126056"/>
                    <a:pt x="1404649" y="151398"/>
                    <a:pt x="1385965" y="170083"/>
                  </a:cubicBezTo>
                  <a:cubicBezTo>
                    <a:pt x="1367280" y="188767"/>
                    <a:pt x="1341938" y="199264"/>
                    <a:pt x="1315514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15146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85817" y="4967216"/>
            <a:ext cx="7390552" cy="854606"/>
            <a:chOff x="0" y="0"/>
            <a:chExt cx="1723219" cy="199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219" cy="199264"/>
            </a:xfrm>
            <a:custGeom>
              <a:avLst/>
              <a:gdLst/>
              <a:ahLst/>
              <a:cxnLst/>
              <a:rect r="r" b="b" t="t" l="l"/>
              <a:pathLst>
                <a:path h="199264" w="1723219">
                  <a:moveTo>
                    <a:pt x="99632" y="0"/>
                  </a:moveTo>
                  <a:lnTo>
                    <a:pt x="1623587" y="0"/>
                  </a:lnTo>
                  <a:cubicBezTo>
                    <a:pt x="1650011" y="0"/>
                    <a:pt x="1675353" y="10497"/>
                    <a:pt x="1694038" y="29182"/>
                  </a:cubicBezTo>
                  <a:cubicBezTo>
                    <a:pt x="1712722" y="47866"/>
                    <a:pt x="1723219" y="73208"/>
                    <a:pt x="1723219" y="99632"/>
                  </a:cubicBezTo>
                  <a:lnTo>
                    <a:pt x="1723219" y="99632"/>
                  </a:lnTo>
                  <a:cubicBezTo>
                    <a:pt x="1723219" y="126056"/>
                    <a:pt x="1712722" y="151398"/>
                    <a:pt x="1694038" y="170083"/>
                  </a:cubicBezTo>
                  <a:cubicBezTo>
                    <a:pt x="1675353" y="188767"/>
                    <a:pt x="1650011" y="199264"/>
                    <a:pt x="1623587" y="199264"/>
                  </a:cubicBezTo>
                  <a:lnTo>
                    <a:pt x="99632" y="199264"/>
                  </a:lnTo>
                  <a:cubicBezTo>
                    <a:pt x="73208" y="199264"/>
                    <a:pt x="47866" y="188767"/>
                    <a:pt x="29182" y="170083"/>
                  </a:cubicBezTo>
                  <a:cubicBezTo>
                    <a:pt x="10497" y="151398"/>
                    <a:pt x="0" y="126056"/>
                    <a:pt x="0" y="99632"/>
                  </a:cubicBezTo>
                  <a:lnTo>
                    <a:pt x="0" y="99632"/>
                  </a:lnTo>
                  <a:cubicBezTo>
                    <a:pt x="0" y="73208"/>
                    <a:pt x="10497" y="47866"/>
                    <a:pt x="29182" y="29182"/>
                  </a:cubicBezTo>
                  <a:cubicBezTo>
                    <a:pt x="47866" y="10497"/>
                    <a:pt x="73208" y="0"/>
                    <a:pt x="99632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3219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503812" y="1765695"/>
            <a:ext cx="13111215" cy="1672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08"/>
              </a:lnSpc>
              <a:spcBef>
                <a:spcPct val="0"/>
              </a:spcBef>
            </a:pPr>
            <a:r>
              <a:rPr lang="en-US" sz="10924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Our Solution:          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085817" y="7197278"/>
            <a:ext cx="6700176" cy="6566173"/>
          </a:xfrm>
          <a:custGeom>
            <a:avLst/>
            <a:gdLst/>
            <a:ahLst/>
            <a:cxnLst/>
            <a:rect r="r" b="b" t="t" l="l"/>
            <a:pathLst>
              <a:path h="6566173" w="6700176">
                <a:moveTo>
                  <a:pt x="0" y="0"/>
                </a:moveTo>
                <a:lnTo>
                  <a:pt x="6700177" y="0"/>
                </a:lnTo>
                <a:lnTo>
                  <a:pt x="6700177" y="6566173"/>
                </a:lnTo>
                <a:lnTo>
                  <a:pt x="0" y="65661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78979" y="3855819"/>
            <a:ext cx="7176731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08"/>
              </a:lnSpc>
              <a:spcBef>
                <a:spcPct val="0"/>
              </a:spcBef>
            </a:pPr>
            <a:r>
              <a:rPr lang="en-US" sz="10924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Placement.AI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75159" y="1708545"/>
            <a:ext cx="7832915" cy="123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4"/>
              </a:lnSpc>
              <a:spcBef>
                <a:spcPct val="0"/>
              </a:spcBef>
            </a:pPr>
            <a:r>
              <a:rPr lang="en-US" b="true" sz="3553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 LLM-B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Stud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 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ystem </a:t>
            </a:r>
            <a:r>
              <a:rPr lang="en-US" b="true" sz="3553" strike="noStrike" u="none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Gemini API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23933" y="3390416"/>
            <a:ext cx="7184141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it does: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Collects student data (marks, attendance, feedback)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Uses LLM (Gemini) to analyze performance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Predicts risk level (Low / Medium / High)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Generates personalized improvement suggestions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Helps teachers take early action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Technology Used: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React (Frontend)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Node.js (Backend)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Gemini API (LLM)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97140" y="4544957"/>
            <a:ext cx="6246376" cy="4114800"/>
          </a:xfrm>
          <a:custGeom>
            <a:avLst/>
            <a:gdLst/>
            <a:ahLst/>
            <a:cxnLst/>
            <a:rect r="r" b="b" t="t" l="l"/>
            <a:pathLst>
              <a:path h="4114800" w="6246376">
                <a:moveTo>
                  <a:pt x="0" y="0"/>
                </a:moveTo>
                <a:lnTo>
                  <a:pt x="6246376" y="0"/>
                </a:lnTo>
                <a:lnTo>
                  <a:pt x="62463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23517" y="1356982"/>
            <a:ext cx="8337686" cy="1772110"/>
            <a:chOff x="0" y="0"/>
            <a:chExt cx="11116915" cy="236281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92422" y="1223339"/>
              <a:ext cx="9854069" cy="1139475"/>
              <a:chOff x="0" y="0"/>
              <a:chExt cx="1723219" cy="19926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23219" cy="199264"/>
              </a:xfrm>
              <a:custGeom>
                <a:avLst/>
                <a:gdLst/>
                <a:ahLst/>
                <a:cxnLst/>
                <a:rect r="r" b="b" t="t" l="l"/>
                <a:pathLst>
                  <a:path h="199264" w="1723219">
                    <a:moveTo>
                      <a:pt x="99632" y="0"/>
                    </a:moveTo>
                    <a:lnTo>
                      <a:pt x="1623587" y="0"/>
                    </a:lnTo>
                    <a:cubicBezTo>
                      <a:pt x="1650011" y="0"/>
                      <a:pt x="1675353" y="10497"/>
                      <a:pt x="1694038" y="29182"/>
                    </a:cubicBezTo>
                    <a:cubicBezTo>
                      <a:pt x="1712722" y="47866"/>
                      <a:pt x="1723219" y="73208"/>
                      <a:pt x="1723219" y="99632"/>
                    </a:cubicBezTo>
                    <a:lnTo>
                      <a:pt x="1723219" y="99632"/>
                    </a:lnTo>
                    <a:cubicBezTo>
                      <a:pt x="1723219" y="126056"/>
                      <a:pt x="1712722" y="151398"/>
                      <a:pt x="1694038" y="170083"/>
                    </a:cubicBezTo>
                    <a:cubicBezTo>
                      <a:pt x="1675353" y="188767"/>
                      <a:pt x="1650011" y="199264"/>
                      <a:pt x="1623587" y="199264"/>
                    </a:cubicBezTo>
                    <a:lnTo>
                      <a:pt x="99632" y="199264"/>
                    </a:lnTo>
                    <a:cubicBezTo>
                      <a:pt x="73208" y="199264"/>
                      <a:pt x="47866" y="188767"/>
                      <a:pt x="29182" y="170083"/>
                    </a:cubicBezTo>
                    <a:cubicBezTo>
                      <a:pt x="10497" y="151398"/>
                      <a:pt x="0" y="126056"/>
                      <a:pt x="0" y="99632"/>
                    </a:cubicBezTo>
                    <a:lnTo>
                      <a:pt x="0" y="99632"/>
                    </a:lnTo>
                    <a:cubicBezTo>
                      <a:pt x="0" y="73208"/>
                      <a:pt x="10497" y="47866"/>
                      <a:pt x="29182" y="29182"/>
                    </a:cubicBezTo>
                    <a:cubicBezTo>
                      <a:pt x="47866" y="10497"/>
                      <a:pt x="73208" y="0"/>
                      <a:pt x="99632" y="0"/>
                    </a:cubicBezTo>
                    <a:close/>
                  </a:path>
                </a:pathLst>
              </a:custGeom>
              <a:solidFill>
                <a:srgbClr val="F7CF4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723219" cy="2373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0"/>
              <a:ext cx="11116915" cy="1625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642"/>
                </a:lnSpc>
                <a:spcBef>
                  <a:spcPct val="0"/>
                </a:spcBef>
              </a:pPr>
              <a:r>
                <a:rPr lang="en-US" sz="8035" strike="noStrike" u="none">
                  <a:solidFill>
                    <a:srgbClr val="323232"/>
                  </a:solidFill>
                  <a:latin typeface="Anton"/>
                  <a:ea typeface="Anton"/>
                  <a:cs typeface="Anton"/>
                  <a:sym typeface="Anton"/>
                </a:rPr>
                <a:t>System Architecture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025280" y="2803605"/>
            <a:ext cx="7599759" cy="598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Flow</a:t>
            </a: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Student enters data (marks, attendance, feedback)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React frontend sends data to backend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Backend sends prompt to Gemini API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Gemini analyzes and returns: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Performance summary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Risk level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Suggestions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Result displayed on dashboard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Modules: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Student Dashboard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Teacher Dashboard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AI Analysis Module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Report Generator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93436">
            <a:off x="1607348" y="1744434"/>
            <a:ext cx="4810960" cy="7153844"/>
          </a:xfrm>
          <a:custGeom>
            <a:avLst/>
            <a:gdLst/>
            <a:ahLst/>
            <a:cxnLst/>
            <a:rect r="r" b="b" t="t" l="l"/>
            <a:pathLst>
              <a:path h="7153844" w="4810960">
                <a:moveTo>
                  <a:pt x="0" y="0"/>
                </a:moveTo>
                <a:lnTo>
                  <a:pt x="4810960" y="0"/>
                </a:lnTo>
                <a:lnTo>
                  <a:pt x="4810960" y="7153844"/>
                </a:lnTo>
                <a:lnTo>
                  <a:pt x="0" y="7153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10304" y="3505741"/>
            <a:ext cx="9278074" cy="854606"/>
            <a:chOff x="0" y="0"/>
            <a:chExt cx="2163324" cy="199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3324" cy="199264"/>
            </a:xfrm>
            <a:custGeom>
              <a:avLst/>
              <a:gdLst/>
              <a:ahLst/>
              <a:cxnLst/>
              <a:rect r="r" b="b" t="t" l="l"/>
              <a:pathLst>
                <a:path h="199264" w="2163324">
                  <a:moveTo>
                    <a:pt x="83443" y="0"/>
                  </a:moveTo>
                  <a:lnTo>
                    <a:pt x="2079881" y="0"/>
                  </a:lnTo>
                  <a:cubicBezTo>
                    <a:pt x="2125965" y="0"/>
                    <a:pt x="2163324" y="37359"/>
                    <a:pt x="2163324" y="83443"/>
                  </a:cubicBezTo>
                  <a:lnTo>
                    <a:pt x="2163324" y="115821"/>
                  </a:lnTo>
                  <a:cubicBezTo>
                    <a:pt x="2163324" y="161906"/>
                    <a:pt x="2125965" y="199264"/>
                    <a:pt x="2079881" y="199264"/>
                  </a:cubicBezTo>
                  <a:lnTo>
                    <a:pt x="83443" y="199264"/>
                  </a:lnTo>
                  <a:cubicBezTo>
                    <a:pt x="37359" y="199264"/>
                    <a:pt x="0" y="161906"/>
                    <a:pt x="0" y="115821"/>
                  </a:cubicBezTo>
                  <a:lnTo>
                    <a:pt x="0" y="83443"/>
                  </a:lnTo>
                  <a:cubicBezTo>
                    <a:pt x="0" y="37359"/>
                    <a:pt x="37359" y="0"/>
                    <a:pt x="83443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63324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503000" y="731345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0"/>
                </a:moveTo>
                <a:lnTo>
                  <a:pt x="1894269" y="0"/>
                </a:lnTo>
                <a:lnTo>
                  <a:pt x="1894269" y="1337828"/>
                </a:lnTo>
                <a:lnTo>
                  <a:pt x="0" y="13378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96956" y="2532869"/>
            <a:ext cx="1001119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73"/>
              </a:lnSpc>
              <a:spcBef>
                <a:spcPct val="0"/>
              </a:spcBef>
            </a:pPr>
            <a:r>
              <a:rPr lang="en-US" sz="9227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 Fe</a:t>
            </a:r>
            <a:r>
              <a:rPr lang="en-US" sz="9227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at</a:t>
            </a:r>
            <a:r>
              <a:rPr lang="en-US" sz="9227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ures &amp; Be</a:t>
            </a:r>
            <a:r>
              <a:rPr lang="en-US" sz="9227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  <a:r>
              <a:rPr lang="en-US" sz="9227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efits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52097" y="4470431"/>
            <a:ext cx="5939055" cy="552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  <a:spcBef>
                <a:spcPct val="0"/>
              </a:spcBef>
            </a:pPr>
            <a:r>
              <a:rPr lang="en-US" b="true" sz="2430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Features:</a:t>
            </a:r>
          </a:p>
          <a:p>
            <a:pPr algn="l" marL="524653" indent="-262327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Student performance monitoring</a:t>
            </a:r>
          </a:p>
          <a:p>
            <a:pPr algn="l" marL="524653" indent="-262327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AI-based risk prediction</a:t>
            </a:r>
          </a:p>
          <a:p>
            <a:pPr algn="l" marL="524653" indent="-262327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Personalized learning suggestions</a:t>
            </a:r>
          </a:p>
          <a:p>
            <a:pPr algn="l" marL="524653" indent="-262327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Auto-generated reports</a:t>
            </a:r>
          </a:p>
          <a:p>
            <a:pPr algn="l" marL="524653" indent="-262327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Teacher &amp; student dashboards</a:t>
            </a:r>
          </a:p>
          <a:p>
            <a:pPr algn="l">
              <a:lnSpc>
                <a:spcPts val="3402"/>
              </a:lnSpc>
            </a:pPr>
          </a:p>
          <a:p>
            <a:pPr algn="l">
              <a:lnSpc>
                <a:spcPts val="3402"/>
              </a:lnSpc>
              <a:spcBef>
                <a:spcPct val="0"/>
              </a:spcBef>
            </a:pPr>
            <a:r>
              <a:rPr lang="en-US" b="true" sz="2430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Benefits:</a:t>
            </a:r>
          </a:p>
          <a:p>
            <a:pPr algn="l" marL="524653" indent="-262327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Early identification of weak students</a:t>
            </a:r>
          </a:p>
          <a:p>
            <a:pPr algn="l" marL="524653" indent="-262327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Saves teacher time</a:t>
            </a:r>
          </a:p>
          <a:p>
            <a:pPr algn="l" marL="524653" indent="-262327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Improves academic performance</a:t>
            </a:r>
          </a:p>
          <a:p>
            <a:pPr algn="l" marL="524653" indent="-262327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Reduces dropout rate</a:t>
            </a:r>
          </a:p>
          <a:p>
            <a:pPr algn="l" marL="524653" indent="-262327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Smart decision making using AI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-314" r="0" b="-3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2796" y="1122384"/>
            <a:ext cx="10414846" cy="854606"/>
            <a:chOff x="0" y="0"/>
            <a:chExt cx="2428379" cy="1992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28379" cy="199264"/>
            </a:xfrm>
            <a:custGeom>
              <a:avLst/>
              <a:gdLst/>
              <a:ahLst/>
              <a:cxnLst/>
              <a:rect r="r" b="b" t="t" l="l"/>
              <a:pathLst>
                <a:path h="199264" w="2428379">
                  <a:moveTo>
                    <a:pt x="74335" y="0"/>
                  </a:moveTo>
                  <a:lnTo>
                    <a:pt x="2354044" y="0"/>
                  </a:lnTo>
                  <a:cubicBezTo>
                    <a:pt x="2373759" y="0"/>
                    <a:pt x="2392666" y="7832"/>
                    <a:pt x="2406607" y="21772"/>
                  </a:cubicBezTo>
                  <a:cubicBezTo>
                    <a:pt x="2420548" y="35713"/>
                    <a:pt x="2428379" y="54620"/>
                    <a:pt x="2428379" y="74335"/>
                  </a:cubicBezTo>
                  <a:lnTo>
                    <a:pt x="2428379" y="124929"/>
                  </a:lnTo>
                  <a:cubicBezTo>
                    <a:pt x="2428379" y="144644"/>
                    <a:pt x="2420548" y="163551"/>
                    <a:pt x="2406607" y="177492"/>
                  </a:cubicBezTo>
                  <a:cubicBezTo>
                    <a:pt x="2392666" y="191433"/>
                    <a:pt x="2373759" y="199264"/>
                    <a:pt x="2354044" y="199264"/>
                  </a:cubicBezTo>
                  <a:lnTo>
                    <a:pt x="74335" y="199264"/>
                  </a:lnTo>
                  <a:cubicBezTo>
                    <a:pt x="33281" y="199264"/>
                    <a:pt x="0" y="165983"/>
                    <a:pt x="0" y="124929"/>
                  </a:cubicBezTo>
                  <a:lnTo>
                    <a:pt x="0" y="74335"/>
                  </a:lnTo>
                  <a:cubicBezTo>
                    <a:pt x="0" y="54620"/>
                    <a:pt x="7832" y="35713"/>
                    <a:pt x="21772" y="21772"/>
                  </a:cubicBezTo>
                  <a:cubicBezTo>
                    <a:pt x="35713" y="7832"/>
                    <a:pt x="54620" y="0"/>
                    <a:pt x="74335" y="0"/>
                  </a:cubicBezTo>
                  <a:close/>
                </a:path>
              </a:pathLst>
            </a:custGeom>
            <a:solidFill>
              <a:srgbClr val="F7CF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28379" cy="23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72426" y="8392353"/>
            <a:ext cx="1894269" cy="1337827"/>
          </a:xfrm>
          <a:custGeom>
            <a:avLst/>
            <a:gdLst/>
            <a:ahLst/>
            <a:cxnLst/>
            <a:rect r="r" b="b" t="t" l="l"/>
            <a:pathLst>
              <a:path h="1337827" w="1894269">
                <a:moveTo>
                  <a:pt x="0" y="1337828"/>
                </a:moveTo>
                <a:lnTo>
                  <a:pt x="1894269" y="1337828"/>
                </a:lnTo>
                <a:lnTo>
                  <a:pt x="1894269" y="0"/>
                </a:lnTo>
                <a:lnTo>
                  <a:pt x="0" y="0"/>
                </a:lnTo>
                <a:lnTo>
                  <a:pt x="0" y="13378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07643" y="5060775"/>
            <a:ext cx="4948116" cy="3104943"/>
          </a:xfrm>
          <a:custGeom>
            <a:avLst/>
            <a:gdLst/>
            <a:ahLst/>
            <a:cxnLst/>
            <a:rect r="r" b="b" t="t" l="l"/>
            <a:pathLst>
              <a:path h="3104943" w="4948116">
                <a:moveTo>
                  <a:pt x="0" y="0"/>
                </a:moveTo>
                <a:lnTo>
                  <a:pt x="4948116" y="0"/>
                </a:lnTo>
                <a:lnTo>
                  <a:pt x="4948116" y="3104943"/>
                </a:lnTo>
                <a:lnTo>
                  <a:pt x="0" y="31049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51848" y="3743325"/>
            <a:ext cx="4214904" cy="4114800"/>
          </a:xfrm>
          <a:custGeom>
            <a:avLst/>
            <a:gdLst/>
            <a:ahLst/>
            <a:cxnLst/>
            <a:rect r="r" b="b" t="t" l="l"/>
            <a:pathLst>
              <a:path h="4114800" w="4214904">
                <a:moveTo>
                  <a:pt x="0" y="0"/>
                </a:moveTo>
                <a:lnTo>
                  <a:pt x="4214904" y="0"/>
                </a:lnTo>
                <a:lnTo>
                  <a:pt x="42149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83035">
            <a:off x="12031892" y="1583154"/>
            <a:ext cx="4968416" cy="3005891"/>
          </a:xfrm>
          <a:custGeom>
            <a:avLst/>
            <a:gdLst/>
            <a:ahLst/>
            <a:cxnLst/>
            <a:rect r="r" b="b" t="t" l="l"/>
            <a:pathLst>
              <a:path h="3005891" w="4968416">
                <a:moveTo>
                  <a:pt x="0" y="0"/>
                </a:moveTo>
                <a:lnTo>
                  <a:pt x="4968416" y="0"/>
                </a:lnTo>
                <a:lnTo>
                  <a:pt x="4968416" y="3005892"/>
                </a:lnTo>
                <a:lnTo>
                  <a:pt x="0" y="30058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2426" y="277254"/>
            <a:ext cx="10915216" cy="121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52"/>
              </a:lnSpc>
              <a:spcBef>
                <a:spcPct val="0"/>
              </a:spcBef>
            </a:pPr>
            <a:r>
              <a:rPr lang="en-US" sz="7960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Co</a:t>
            </a:r>
            <a:r>
              <a:rPr lang="en-US" sz="7960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nclusion &amp;</a:t>
            </a:r>
            <a:r>
              <a:rPr lang="en-US" sz="7960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 F</a:t>
            </a:r>
            <a:r>
              <a:rPr lang="en-US" sz="7960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u</a:t>
            </a:r>
            <a:r>
              <a:rPr lang="en-US" sz="7960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ture</a:t>
            </a:r>
            <a:r>
              <a:rPr lang="en-US" sz="7960" strike="noStrike" u="none">
                <a:solidFill>
                  <a:srgbClr val="323232"/>
                </a:solidFill>
                <a:latin typeface="Anton"/>
                <a:ea typeface="Anton"/>
                <a:cs typeface="Anton"/>
                <a:sym typeface="Anton"/>
              </a:rPr>
              <a:t>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492013"/>
            <a:ext cx="10887296" cy="567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b="true" sz="2494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Conclusion:</a:t>
            </a:r>
          </a:p>
          <a:p>
            <a:pPr algn="l" marL="538516" indent="-269258" lvl="1">
              <a:lnSpc>
                <a:spcPts val="3491"/>
              </a:lnSpc>
              <a:buFont typeface="Arial"/>
              <a:buChar char="•"/>
            </a:pPr>
            <a:r>
              <a:rPr lang="en-US" sz="2494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We transformed Placement.ai into an LLM-based monitoring system</a:t>
            </a:r>
          </a:p>
          <a:p>
            <a:pPr algn="l" marL="538516" indent="-269258" lvl="1">
              <a:lnSpc>
                <a:spcPts val="3491"/>
              </a:lnSpc>
              <a:buFont typeface="Arial"/>
              <a:buChar char="•"/>
            </a:pPr>
            <a:r>
              <a:rPr lang="en-US" sz="2494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Our system helps in academic and behavioral tracking</a:t>
            </a:r>
          </a:p>
          <a:p>
            <a:pPr algn="l" marL="538516" indent="-269258" lvl="1">
              <a:lnSpc>
                <a:spcPts val="3491"/>
              </a:lnSpc>
              <a:buFont typeface="Arial"/>
              <a:buChar char="•"/>
            </a:pPr>
            <a:r>
              <a:rPr lang="en-US" sz="2494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Provides intelligent insights using Gemini AI</a:t>
            </a:r>
          </a:p>
          <a:p>
            <a:pPr algn="l">
              <a:lnSpc>
                <a:spcPts val="3491"/>
              </a:lnSpc>
            </a:pPr>
          </a:p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b="true" sz="2494">
                <a:solidFill>
                  <a:srgbClr val="323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Scope: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sz="2494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Parent dashboard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sz="2494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Mental health detection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sz="2494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Mobile app integration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sz="2494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LMS integration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sz="2494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Real-time alerts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sz="2494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Tagline: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sz="2494">
                <a:solidFill>
                  <a:srgbClr val="323232"/>
                </a:solidFill>
                <a:latin typeface="Canva Sans"/>
                <a:ea typeface="Canva Sans"/>
                <a:cs typeface="Canva Sans"/>
                <a:sym typeface="Canva Sans"/>
              </a:rPr>
              <a:t>“Smart Monitoring for Smarter Education”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DAHAnYA5CrQ</dc:identifier>
  <dcterms:modified xsi:type="dcterms:W3CDTF">2011-08-01T06:04:30Z</dcterms:modified>
  <cp:revision>1</cp:revision>
  <dc:title>Copy of White Yellow and Black Illustrated Education Presentation</dc:title>
</cp:coreProperties>
</file>